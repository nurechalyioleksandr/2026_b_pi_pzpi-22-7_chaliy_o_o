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Inter SemiBold"/>
      <p:regular r:id="rId23"/>
      <p:bold r:id="rId24"/>
      <p:italic r:id="rId25"/>
      <p:boldItalic r:id="rId26"/>
    </p:embeddedFont>
    <p:embeddedFont>
      <p:font typeface="Inter"/>
      <p:bold r:id="rId27"/>
      <p:boldItalic r:id="rId28"/>
    </p:embeddedFont>
    <p:embeddedFont>
      <p:font typeface="Montserrat"/>
      <p:bold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092568c0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092568c0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092568c0e_1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092568c0e_1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092568c0e_1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092568c0e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092568c0e_1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092568c0e_1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092568c0e_4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092568c0e_4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092568c0e_1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092568c0e_1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92568c0e_4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92568c0e_4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092568c0e_4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092568c0e_4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092568c0e_4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092568c0e_4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092568c0e_4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092568c0e_4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92568c0e_4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092568c0e_4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092568c0e_40_1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092568c0e_4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22242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" name="Google Shape;5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7656" y="4919243"/>
            <a:ext cx="803883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2667000" y="571500"/>
            <a:ext cx="6096000" cy="4000500"/>
          </a:xfrm>
          <a:prstGeom prst="roundRect">
            <a:avLst>
              <a:gd fmla="val 3809" name="adj"/>
            </a:avLst>
          </a:prstGeom>
          <a:solidFill>
            <a:srgbClr val="070D19">
              <a:alpha val="85000"/>
            </a:srgbClr>
          </a:solidFill>
          <a:ln cap="flat" cmpd="sng" w="143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2952750" y="857250"/>
            <a:ext cx="55245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Вебзастосунок для антиплагіатної перевірки коду на основі багаторівневого аналізу </a:t>
            </a:r>
            <a:endParaRPr b="1" sz="2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(Back-End)</a:t>
            </a:r>
            <a:endParaRPr b="1" sz="2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Виконав: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с</a:t>
            </a:r>
            <a:r>
              <a:rPr lang="ru" sz="11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т. гр. ПЗПІ-22-7 </a:t>
            </a:r>
            <a:r>
              <a:rPr lang="ru" sz="13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Чалий О. О.</a:t>
            </a:r>
            <a:r>
              <a:rPr b="0" lang="ru" sz="13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b="0" sz="1300">
              <a:solidFill>
                <a:srgbClr val="F1F5F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br>
              <a:rPr b="0" lang="ru" sz="11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b="1" lang="ru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Науковий керівник</a:t>
            </a:r>
            <a:r>
              <a:rPr b="1" lang="ru" sz="9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9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ст. викл. кафедри ПІ</a:t>
            </a:r>
            <a:r>
              <a:rPr lang="ru" sz="13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Ляпота В. М.</a:t>
            </a:r>
            <a:endParaRPr sz="1100">
              <a:solidFill>
                <a:srgbClr val="06B6D4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Аналіз проблеми та недоліки існуючих бекенд-систем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381000" y="1047750"/>
            <a:ext cx="2571900" cy="2000100"/>
            <a:chOff x="381000" y="1047750"/>
            <a:chExt cx="2571900" cy="2000100"/>
          </a:xfrm>
        </p:grpSpPr>
        <p:sp>
          <p:nvSpPr>
            <p:cNvPr id="67" name="Google Shape;67;p15"/>
            <p:cNvSpPr/>
            <p:nvPr/>
          </p:nvSpPr>
          <p:spPr>
            <a:xfrm>
              <a:off x="381000" y="1047750"/>
              <a:ext cx="2571900" cy="2000100"/>
            </a:xfrm>
            <a:prstGeom prst="roundRect">
              <a:avLst>
                <a:gd fmla="val 571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523875" y="1190625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r>
                <a:rPr b="1" lang="ru" sz="1600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MOSS</a:t>
              </a:r>
              <a:endParaRPr b="1" sz="16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Підхід</a:t>
              </a: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 «чорний ящик»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Відсутність REST API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Статичний HTML замість JSON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3286125" y="1047750"/>
            <a:ext cx="2571900" cy="2000100"/>
            <a:chOff x="3286125" y="1047750"/>
            <a:chExt cx="2571900" cy="2000100"/>
          </a:xfrm>
        </p:grpSpPr>
        <p:sp>
          <p:nvSpPr>
            <p:cNvPr id="70" name="Google Shape;70;p15"/>
            <p:cNvSpPr/>
            <p:nvPr/>
          </p:nvSpPr>
          <p:spPr>
            <a:xfrm>
              <a:off x="3286125" y="1047750"/>
              <a:ext cx="2571900" cy="2000100"/>
            </a:xfrm>
            <a:prstGeom prst="roundRect">
              <a:avLst>
                <a:gd fmla="val 571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3429000" y="1190625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cloud_off</a:t>
              </a:r>
              <a:r>
                <a:rPr b="1" lang="ru" sz="1600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Codequiry</a:t>
              </a:r>
              <a:endParaRPr b="1" sz="16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Виключно хмарна SaaS модель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Ризики витоку IP-адрес/даних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Затримки через веб-скрапінг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6191250" y="1047750"/>
            <a:ext cx="2571900" cy="2000100"/>
            <a:chOff x="6191250" y="1047750"/>
            <a:chExt cx="2571900" cy="2000100"/>
          </a:xfrm>
        </p:grpSpPr>
        <p:sp>
          <p:nvSpPr>
            <p:cNvPr id="73" name="Google Shape;73;p15"/>
            <p:cNvSpPr/>
            <p:nvPr/>
          </p:nvSpPr>
          <p:spPr>
            <a:xfrm>
              <a:off x="6191250" y="1047750"/>
              <a:ext cx="2571900" cy="2000100"/>
            </a:xfrm>
            <a:prstGeom prst="roundRect">
              <a:avLst>
                <a:gd fmla="val 571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6334125" y="1190625"/>
              <a:ext cx="2286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8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r>
                <a:rPr b="1" lang="ru" sz="1600">
                  <a:solidFill>
                    <a:srgbClr val="EF4444"/>
                  </a:solidFill>
                  <a:latin typeface="Roboto"/>
                  <a:ea typeface="Roboto"/>
                  <a:cs typeface="Roboto"/>
                  <a:sym typeface="Roboto"/>
                </a:rPr>
                <a:t>Dolos</a:t>
              </a:r>
              <a:endParaRPr b="1" sz="1600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Орієнтація на CLI-утиліту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Відсутність авторизації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rgbClr val="D4D4D1"/>
                  </a:solidFill>
                  <a:latin typeface="Roboto"/>
                  <a:ea typeface="Roboto"/>
                  <a:cs typeface="Roboto"/>
                  <a:sym typeface="Roboto"/>
                </a:rPr>
                <a:t>• Немає сесій та інтеграції з БД</a:t>
              </a:r>
              <a:endParaRPr sz="110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381000" y="3238500"/>
            <a:ext cx="8382000" cy="1238400"/>
            <a:chOff x="381000" y="3238500"/>
            <a:chExt cx="8382000" cy="1238400"/>
          </a:xfrm>
        </p:grpSpPr>
        <p:sp>
          <p:nvSpPr>
            <p:cNvPr id="76" name="Google Shape;76;p15"/>
            <p:cNvSpPr/>
            <p:nvPr/>
          </p:nvSpPr>
          <p:spPr>
            <a:xfrm>
              <a:off x="381000" y="3238500"/>
              <a:ext cx="8382000" cy="1238400"/>
            </a:xfrm>
            <a:prstGeom prst="roundRect">
              <a:avLst>
                <a:gd fmla="val 9230" name="adj"/>
              </a:avLst>
            </a:prstGeom>
            <a:solidFill>
              <a:srgbClr val="0D1E1A">
                <a:alpha val="89999"/>
              </a:srgbClr>
            </a:solidFill>
            <a:ln cap="flat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619125" y="37080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task_alt</a:t>
              </a:r>
              <a:endParaRPr sz="2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143000" y="3381375"/>
              <a:ext cx="742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10B981"/>
                  </a:solidFill>
                  <a:latin typeface="Roboto"/>
                  <a:ea typeface="Roboto"/>
                  <a:cs typeface="Roboto"/>
                  <a:sym typeface="Roboto"/>
                </a:rPr>
                <a:t>Наше рішення</a:t>
              </a:r>
              <a:endParaRPr b="1" sz="1500">
                <a:solidFill>
                  <a:srgbClr val="10B98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E6F4EA"/>
                  </a:solidFill>
                  <a:latin typeface="Roboto"/>
                  <a:ea typeface="Roboto"/>
                  <a:cs typeface="Roboto"/>
                  <a:sym typeface="Roboto"/>
                </a:rPr>
                <a:t>Автономний On-Premise REST API сервіс з асинхронною обробкою.</a:t>
              </a:r>
              <a:endParaRPr sz="1200">
                <a:solidFill>
                  <a:srgbClr val="E6F4E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Постановка задачі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381000" y="1143000"/>
            <a:ext cx="2571900" cy="3429000"/>
            <a:chOff x="381000" y="1143000"/>
            <a:chExt cx="2571900" cy="3429000"/>
          </a:xfrm>
        </p:grpSpPr>
        <p:sp>
          <p:nvSpPr>
            <p:cNvPr id="86" name="Google Shape;86;p16"/>
            <p:cNvSpPr/>
            <p:nvPr/>
          </p:nvSpPr>
          <p:spPr>
            <a:xfrm>
              <a:off x="38100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23875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8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Мета роботи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Проєктування та реалізація відмовостійкої серверної частини для автоматизованого виявлення плагіату </a:t>
              </a:r>
              <a:r>
                <a:rPr lang="ru" sz="1100">
                  <a:solidFill>
                    <a:srgbClr val="D4D4D1"/>
                  </a:solidFill>
                </a:rPr>
                <a:t>в коді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3286125" y="1143000"/>
            <a:ext cx="2571900" cy="3429000"/>
            <a:chOff x="3286125" y="1143000"/>
            <a:chExt cx="2571900" cy="3429000"/>
          </a:xfrm>
        </p:grpSpPr>
        <p:sp>
          <p:nvSpPr>
            <p:cNvPr id="89" name="Google Shape;89;p16"/>
            <p:cNvSpPr/>
            <p:nvPr/>
          </p:nvSpPr>
          <p:spPr>
            <a:xfrm>
              <a:off x="3286125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3429000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Об'єкт розробки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Серверна складова (Backend) аналітичного вебзастосунку.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6191250" y="1143000"/>
            <a:ext cx="2571900" cy="3429000"/>
            <a:chOff x="6191250" y="1143000"/>
            <a:chExt cx="2571900" cy="3429000"/>
          </a:xfrm>
        </p:grpSpPr>
        <p:sp>
          <p:nvSpPr>
            <p:cNvPr id="92" name="Google Shape;92;p16"/>
            <p:cNvSpPr/>
            <p:nvPr/>
          </p:nvSpPr>
          <p:spPr>
            <a:xfrm>
              <a:off x="619125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6334125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Предмет розробки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Алгоритми багаторівневого порівняння, патерни побудови REST API на .NET, моделювання баз даних в MS SQL Server.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Багатошарова архітектура ПЗ (N-Tier Architecture)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7"/>
          <p:cNvGrpSpPr/>
          <p:nvPr/>
        </p:nvGrpSpPr>
        <p:grpSpPr>
          <a:xfrm>
            <a:off x="381000" y="1143000"/>
            <a:ext cx="2571900" cy="3429000"/>
            <a:chOff x="381000" y="1143000"/>
            <a:chExt cx="2571900" cy="3429000"/>
          </a:xfrm>
        </p:grpSpPr>
        <p:sp>
          <p:nvSpPr>
            <p:cNvPr id="101" name="Google Shape;101;p17"/>
            <p:cNvSpPr/>
            <p:nvPr/>
          </p:nvSpPr>
          <p:spPr>
            <a:xfrm>
              <a:off x="38100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523875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28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API Layer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(Представлення)</a:t>
              </a:r>
              <a:endParaRPr b="1" sz="11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Обробка HTTP-запитів, контролери (Submission, Directory, Analysis).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7"/>
          <p:cNvGrpSpPr/>
          <p:nvPr/>
        </p:nvGrpSpPr>
        <p:grpSpPr>
          <a:xfrm>
            <a:off x="3286125" y="1143000"/>
            <a:ext cx="2571900" cy="3429000"/>
            <a:chOff x="3286125" y="1143000"/>
            <a:chExt cx="2571900" cy="3429000"/>
          </a:xfrm>
        </p:grpSpPr>
        <p:sp>
          <p:nvSpPr>
            <p:cNvPr id="104" name="Google Shape;104;p17"/>
            <p:cNvSpPr/>
            <p:nvPr/>
          </p:nvSpPr>
          <p:spPr>
            <a:xfrm>
              <a:off x="3286125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3429000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Business Logic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(Бізнес-логіка)</a:t>
              </a:r>
              <a:endParaRPr b="1" sz="11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Оркестрація аналізу (UnifiedAnalysisService), сервіси файлової системи.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17"/>
          <p:cNvGrpSpPr/>
          <p:nvPr/>
        </p:nvGrpSpPr>
        <p:grpSpPr>
          <a:xfrm>
            <a:off x="6191250" y="1143000"/>
            <a:ext cx="2571900" cy="3429000"/>
            <a:chOff x="6191250" y="1143000"/>
            <a:chExt cx="2571900" cy="3429000"/>
          </a:xfrm>
        </p:grpSpPr>
        <p:sp>
          <p:nvSpPr>
            <p:cNvPr id="107" name="Google Shape;107;p17"/>
            <p:cNvSpPr/>
            <p:nvPr/>
          </p:nvSpPr>
          <p:spPr>
            <a:xfrm>
              <a:off x="619125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6334125" y="1285875"/>
              <a:ext cx="2286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Access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(Доступ до даних)</a:t>
              </a:r>
              <a:endParaRPr b="1" sz="11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Entity Framework Core, робота з MS SQL Server та файловим сховищем.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Технологічний стек бекенду</a:t>
            </a:r>
            <a:endParaRPr b="1" i="0" sz="2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381000" y="1095375"/>
            <a:ext cx="4048200" cy="1666800"/>
            <a:chOff x="381000" y="1095375"/>
            <a:chExt cx="4048200" cy="1666800"/>
          </a:xfrm>
        </p:grpSpPr>
        <p:sp>
          <p:nvSpPr>
            <p:cNvPr id="116" name="Google Shape;116;p18"/>
            <p:cNvSpPr/>
            <p:nvPr/>
          </p:nvSpPr>
          <p:spPr>
            <a:xfrm>
              <a:off x="381000" y="1095375"/>
              <a:ext cx="4048200" cy="1666800"/>
            </a:xfrm>
            <a:prstGeom prst="roundRect">
              <a:avLst>
                <a:gd fmla="val 6857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523875" y="1238250"/>
              <a:ext cx="37623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ru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Платформа та Мова</a:t>
              </a:r>
              <a:endParaRPr sz="20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.NET / C#</a:t>
              </a:r>
              <a:endParaRPr b="1" sz="12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Висока продуктивність, статична типізація, автоматичне та оптимізоване управління пам'яттю.</a:t>
              </a:r>
              <a:endParaRPr b="0" sz="10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8"/>
          <p:cNvGrpSpPr/>
          <p:nvPr/>
        </p:nvGrpSpPr>
        <p:grpSpPr>
          <a:xfrm>
            <a:off x="4714875" y="1095375"/>
            <a:ext cx="4048200" cy="1666800"/>
            <a:chOff x="4714875" y="1095375"/>
            <a:chExt cx="4048200" cy="1666800"/>
          </a:xfrm>
        </p:grpSpPr>
        <p:sp>
          <p:nvSpPr>
            <p:cNvPr id="119" name="Google Shape;119;p18"/>
            <p:cNvSpPr/>
            <p:nvPr/>
          </p:nvSpPr>
          <p:spPr>
            <a:xfrm>
              <a:off x="4714875" y="1095375"/>
              <a:ext cx="4048200" cy="1666800"/>
            </a:xfrm>
            <a:prstGeom prst="roundRect">
              <a:avLst>
                <a:gd fmla="val 6857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4857750" y="1238250"/>
              <a:ext cx="37623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r>
                <a:rPr b="1" lang="ru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Веб-фреймворк</a:t>
              </a:r>
              <a:endParaRPr sz="2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ASP.NET Core</a:t>
              </a:r>
              <a:endParaRPr b="1" sz="12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Асинхронний конвеєр обробки REST API, повна інтеграція Swagger, надійна підтримка JWT авторизації.</a:t>
              </a:r>
              <a:endParaRPr b="0" sz="10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381000" y="3000375"/>
            <a:ext cx="4048200" cy="1666800"/>
            <a:chOff x="381000" y="3000375"/>
            <a:chExt cx="4048200" cy="1666800"/>
          </a:xfrm>
        </p:grpSpPr>
        <p:sp>
          <p:nvSpPr>
            <p:cNvPr id="122" name="Google Shape;122;p18"/>
            <p:cNvSpPr/>
            <p:nvPr/>
          </p:nvSpPr>
          <p:spPr>
            <a:xfrm>
              <a:off x="381000" y="3000375"/>
              <a:ext cx="4048200" cy="1666800"/>
            </a:xfrm>
            <a:prstGeom prst="roundRect">
              <a:avLst>
                <a:gd fmla="val 6857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 txBox="1"/>
            <p:nvPr/>
          </p:nvSpPr>
          <p:spPr>
            <a:xfrm>
              <a:off x="523875" y="3143250"/>
              <a:ext cx="37623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ru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СУБД та ORM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MS SQL Server + EF Core</a:t>
              </a:r>
              <a:endParaRPr b="1" sz="12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Об'єктно-реляційне відображення, підтримка LINQ-запитів, надійні ACID-транзакції та автоматичні міграції.</a:t>
              </a:r>
              <a:endParaRPr b="0" sz="10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18"/>
          <p:cNvGrpSpPr/>
          <p:nvPr/>
        </p:nvGrpSpPr>
        <p:grpSpPr>
          <a:xfrm>
            <a:off x="4714875" y="3000375"/>
            <a:ext cx="4048200" cy="1666800"/>
            <a:chOff x="4714875" y="3000375"/>
            <a:chExt cx="4048200" cy="1666800"/>
          </a:xfrm>
        </p:grpSpPr>
        <p:sp>
          <p:nvSpPr>
            <p:cNvPr id="125" name="Google Shape;125;p18"/>
            <p:cNvSpPr/>
            <p:nvPr/>
          </p:nvSpPr>
          <p:spPr>
            <a:xfrm>
              <a:off x="4714875" y="3000375"/>
              <a:ext cx="4048200" cy="1666800"/>
            </a:xfrm>
            <a:prstGeom prst="roundRect">
              <a:avLst>
                <a:gd fmla="val 6857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A855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 txBox="1"/>
            <p:nvPr/>
          </p:nvSpPr>
          <p:spPr>
            <a:xfrm>
              <a:off x="4857750" y="3143250"/>
              <a:ext cx="37623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r>
                <a:rPr b="1" lang="ru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Інфраструктура</a:t>
              </a:r>
              <a:endParaRPr sz="20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A855F7"/>
                  </a:solidFill>
                  <a:latin typeface="Arial"/>
                  <a:ea typeface="Arial"/>
                  <a:cs typeface="Arial"/>
                  <a:sym typeface="Arial"/>
                </a:rPr>
                <a:t>Docker &amp; CI/CD</a:t>
              </a:r>
              <a:endParaRPr b="1" sz="1200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Контейнеризація за допомогою Docker та Docker Compose, автоматизація процесів через GitHub Actions.</a:t>
              </a:r>
              <a:endParaRPr b="0" sz="10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381000" y="285750"/>
            <a:ext cx="419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Проєктування взаємодії компонентів та Патерни</a:t>
            </a:r>
            <a:endParaRPr b="1" sz="186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9"/>
          <p:cNvGrpSpPr/>
          <p:nvPr/>
        </p:nvGrpSpPr>
        <p:grpSpPr>
          <a:xfrm>
            <a:off x="381010" y="1047750"/>
            <a:ext cx="4078738" cy="1095300"/>
            <a:chOff x="381000" y="1047750"/>
            <a:chExt cx="4381500" cy="1095300"/>
          </a:xfrm>
        </p:grpSpPr>
        <p:sp>
          <p:nvSpPr>
            <p:cNvPr id="134" name="Google Shape;134;p19"/>
            <p:cNvSpPr/>
            <p:nvPr/>
          </p:nvSpPr>
          <p:spPr>
            <a:xfrm>
              <a:off x="381000" y="1047750"/>
              <a:ext cx="4381500" cy="1095300"/>
            </a:xfrm>
            <a:prstGeom prst="roundRect">
              <a:avLst>
                <a:gd fmla="val 6956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523875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" name="Google Shape;136;p19"/>
            <p:cNvSpPr txBox="1"/>
            <p:nvPr/>
          </p:nvSpPr>
          <p:spPr>
            <a:xfrm>
              <a:off x="1047750" y="1143000"/>
              <a:ext cx="31434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Стратегія </a:t>
              </a:r>
              <a:r>
                <a:rPr b="1" lang="ru" sz="110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(Strategy)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Динамічне підключення та виконання 5 категорій алгоритмів через впровадження колекцій спеціалізованих інтерфейсів без зміни коду головного сервісу-оркестратора.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9"/>
          <p:cNvGrpSpPr/>
          <p:nvPr/>
        </p:nvGrpSpPr>
        <p:grpSpPr>
          <a:xfrm>
            <a:off x="380999" y="2286000"/>
            <a:ext cx="4078738" cy="1095300"/>
            <a:chOff x="381000" y="2286000"/>
            <a:chExt cx="4381500" cy="1095300"/>
          </a:xfrm>
        </p:grpSpPr>
        <p:sp>
          <p:nvSpPr>
            <p:cNvPr id="138" name="Google Shape;138;p19"/>
            <p:cNvSpPr/>
            <p:nvPr/>
          </p:nvSpPr>
          <p:spPr>
            <a:xfrm>
              <a:off x="381000" y="2286000"/>
              <a:ext cx="4381500" cy="1095300"/>
            </a:xfrm>
            <a:prstGeom prst="roundRect">
              <a:avLst>
                <a:gd fmla="val 6956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 txBox="1"/>
            <p:nvPr/>
          </p:nvSpPr>
          <p:spPr>
            <a:xfrm>
              <a:off x="523875" y="2416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1047750" y="2381250"/>
              <a:ext cx="31434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Репозиторій &amp; О</a:t>
              </a:r>
              <a:r>
                <a:rPr b="1" lang="ru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диниця роботи </a:t>
              </a:r>
              <a:r>
                <a:rPr b="1" lang="ru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ru" sz="105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(Repository &amp; UoW)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Гарантія транзакційності та цілісності даних при одночасному збереженні файлів у фізичному сховищі та метаданих у базі даних.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380999" y="3524250"/>
            <a:ext cx="4078738" cy="1095300"/>
            <a:chOff x="381000" y="3524250"/>
            <a:chExt cx="4381500" cy="1095300"/>
          </a:xfrm>
        </p:grpSpPr>
        <p:sp>
          <p:nvSpPr>
            <p:cNvPr id="142" name="Google Shape;142;p19"/>
            <p:cNvSpPr/>
            <p:nvPr/>
          </p:nvSpPr>
          <p:spPr>
            <a:xfrm>
              <a:off x="381000" y="3524250"/>
              <a:ext cx="4381500" cy="1095300"/>
            </a:xfrm>
            <a:prstGeom prst="roundRect">
              <a:avLst>
                <a:gd fmla="val 6956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523875" y="3654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transform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1047750" y="3619500"/>
              <a:ext cx="31434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Фабричний метод </a:t>
              </a:r>
              <a:r>
                <a:rPr b="1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(Factory Method)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Динамічне визначення та створення відповідного екземпляра парсера залежно від мови програмування аналізованого коду (Python, C#, C++).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Гібридна структура зберігання даних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20"/>
          <p:cNvGrpSpPr/>
          <p:nvPr/>
        </p:nvGrpSpPr>
        <p:grpSpPr>
          <a:xfrm>
            <a:off x="381000" y="1143000"/>
            <a:ext cx="2571900" cy="3429000"/>
            <a:chOff x="381000" y="1143000"/>
            <a:chExt cx="2571900" cy="3429000"/>
          </a:xfrm>
        </p:grpSpPr>
        <p:sp>
          <p:nvSpPr>
            <p:cNvPr id="152" name="Google Shape;152;p20"/>
            <p:cNvSpPr/>
            <p:nvPr/>
          </p:nvSpPr>
          <p:spPr>
            <a:xfrm>
              <a:off x="38100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523875" y="1285875"/>
              <a:ext cx="22860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8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Реляційна БД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MS SQL Server</a:t>
              </a:r>
              <a:endParaRPr b="1" sz="11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Зберігає ієрархію користувачів (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), каталогів (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Folder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 з рекурсивним зв'язком 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ParentId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) та метадані файлів (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SourceFile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3286125" y="1143000"/>
            <a:ext cx="2571900" cy="3429000"/>
            <a:chOff x="3286125" y="1143000"/>
            <a:chExt cx="2571900" cy="3429000"/>
          </a:xfrm>
        </p:grpSpPr>
        <p:sp>
          <p:nvSpPr>
            <p:cNvPr id="155" name="Google Shape;155;p20"/>
            <p:cNvSpPr/>
            <p:nvPr/>
          </p:nvSpPr>
          <p:spPr>
            <a:xfrm>
              <a:off x="3286125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3429000" y="1285875"/>
              <a:ext cx="22860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 sz="2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Фізичне сховище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Storage</a:t>
              </a:r>
              <a:endParaRPr b="1" sz="1100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Оригінальні файли зберігаються на диску під унікальними криптографічними ідентифікаторами (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GUID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0"/>
          <p:cNvGrpSpPr/>
          <p:nvPr/>
        </p:nvGrpSpPr>
        <p:grpSpPr>
          <a:xfrm>
            <a:off x="6191250" y="1143000"/>
            <a:ext cx="2571900" cy="3429000"/>
            <a:chOff x="6191250" y="1143000"/>
            <a:chExt cx="2571900" cy="3429000"/>
          </a:xfrm>
        </p:grpSpPr>
        <p:sp>
          <p:nvSpPr>
            <p:cNvPr id="158" name="Google Shape;158;p20"/>
            <p:cNvSpPr/>
            <p:nvPr/>
          </p:nvSpPr>
          <p:spPr>
            <a:xfrm>
              <a:off x="6191250" y="1143000"/>
              <a:ext cx="2571900" cy="3429000"/>
            </a:xfrm>
            <a:prstGeom prst="roundRect">
              <a:avLst>
                <a:gd fmla="val 444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 txBox="1"/>
            <p:nvPr/>
          </p:nvSpPr>
          <p:spPr>
            <a:xfrm>
              <a:off x="6334125" y="1285875"/>
              <a:ext cx="22860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1" lang="ru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Перевага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Оптимізація</a:t>
              </a:r>
              <a:endParaRPr b="1" sz="11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75"/>
                </a:spcBef>
                <a:spcAft>
                  <a:spcPts val="0"/>
                </a:spcAft>
                <a:buNone/>
              </a:pP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Розвантаження БД від важких </a:t>
              </a:r>
              <a:r>
                <a:rPr b="0" lang="ru" sz="11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BLOB-об'єктів</a:t>
              </a:r>
              <a:r>
                <a:rPr b="0" lang="ru" sz="11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, а також миттєвий потоковий доступ до тексту.</a:t>
              </a:r>
              <a:endParaRPr b="0" sz="11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238125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Нормалізація та токенізація вихідного коду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1"/>
          <p:cNvGrpSpPr/>
          <p:nvPr/>
        </p:nvGrpSpPr>
        <p:grpSpPr>
          <a:xfrm>
            <a:off x="238125" y="1047750"/>
            <a:ext cx="3952800" cy="809700"/>
            <a:chOff x="238125" y="1047750"/>
            <a:chExt cx="3952800" cy="809700"/>
          </a:xfrm>
        </p:grpSpPr>
        <p:sp>
          <p:nvSpPr>
            <p:cNvPr id="167" name="Google Shape;167;p21"/>
            <p:cNvSpPr/>
            <p:nvPr/>
          </p:nvSpPr>
          <p:spPr>
            <a:xfrm>
              <a:off x="238125" y="1047750"/>
              <a:ext cx="3952800" cy="809700"/>
            </a:xfrm>
            <a:prstGeom prst="roundRect">
              <a:avLst>
                <a:gd fmla="val 941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381000" y="1327404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904875" y="1095375"/>
              <a:ext cx="3143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Захист від маскування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Видалення всіх коментарів, табуляцій, зайвих пробілів та форматування.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21"/>
          <p:cNvGrpSpPr/>
          <p:nvPr/>
        </p:nvGrpSpPr>
        <p:grpSpPr>
          <a:xfrm>
            <a:off x="238125" y="1952625"/>
            <a:ext cx="3952800" cy="809700"/>
            <a:chOff x="238125" y="1952625"/>
            <a:chExt cx="3952800" cy="809700"/>
          </a:xfrm>
        </p:grpSpPr>
        <p:sp>
          <p:nvSpPr>
            <p:cNvPr id="171" name="Google Shape;171;p21"/>
            <p:cNvSpPr/>
            <p:nvPr/>
          </p:nvSpPr>
          <p:spPr>
            <a:xfrm>
              <a:off x="238125" y="1952625"/>
              <a:ext cx="3952800" cy="809700"/>
            </a:xfrm>
            <a:prstGeom prst="roundRect">
              <a:avLst>
                <a:gd fmla="val 941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 txBox="1"/>
            <p:nvPr/>
          </p:nvSpPr>
          <p:spPr>
            <a:xfrm>
              <a:off x="381000" y="223227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904875" y="2000250"/>
              <a:ext cx="3143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Абстракція ідентифікаторів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Заміна назв змінних, методів та класів на уніфікований токен </a:t>
              </a:r>
              <a:r>
                <a:rPr b="1" lang="ru" sz="1000">
                  <a:solidFill>
                    <a:srgbClr val="3B82F6"/>
                  </a:solidFill>
                  <a:latin typeface="Arial"/>
                  <a:ea typeface="Arial"/>
                  <a:cs typeface="Arial"/>
                  <a:sym typeface="Arial"/>
                </a:rPr>
                <a:t>ID</a:t>
              </a: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21"/>
          <p:cNvGrpSpPr/>
          <p:nvPr/>
        </p:nvGrpSpPr>
        <p:grpSpPr>
          <a:xfrm>
            <a:off x="238125" y="2857500"/>
            <a:ext cx="3952800" cy="809700"/>
            <a:chOff x="238125" y="2857500"/>
            <a:chExt cx="3952800" cy="809700"/>
          </a:xfrm>
        </p:grpSpPr>
        <p:sp>
          <p:nvSpPr>
            <p:cNvPr id="175" name="Google Shape;175;p21"/>
            <p:cNvSpPr/>
            <p:nvPr/>
          </p:nvSpPr>
          <p:spPr>
            <a:xfrm>
              <a:off x="238125" y="2857500"/>
              <a:ext cx="3952800" cy="809700"/>
            </a:xfrm>
            <a:prstGeom prst="roundRect">
              <a:avLst>
                <a:gd fmla="val 941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1"/>
            <p:cNvSpPr txBox="1"/>
            <p:nvPr/>
          </p:nvSpPr>
          <p:spPr>
            <a:xfrm>
              <a:off x="381000" y="3137154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text_fields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7" name="Google Shape;177;p21"/>
            <p:cNvSpPr txBox="1"/>
            <p:nvPr/>
          </p:nvSpPr>
          <p:spPr>
            <a:xfrm>
              <a:off x="904875" y="2905125"/>
              <a:ext cx="3143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Абстракція літералів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Заміна рядків на </a:t>
              </a:r>
              <a:r>
                <a:rPr b="1" lang="ru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STR</a:t>
              </a: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, чисел на </a:t>
              </a:r>
              <a:r>
                <a:rPr b="1" lang="ru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NUM</a:t>
              </a: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21"/>
          <p:cNvGrpSpPr/>
          <p:nvPr/>
        </p:nvGrpSpPr>
        <p:grpSpPr>
          <a:xfrm>
            <a:off x="238125" y="3762375"/>
            <a:ext cx="3952800" cy="809700"/>
            <a:chOff x="238125" y="3762375"/>
            <a:chExt cx="3952800" cy="809700"/>
          </a:xfrm>
        </p:grpSpPr>
        <p:sp>
          <p:nvSpPr>
            <p:cNvPr id="179" name="Google Shape;179;p21"/>
            <p:cNvSpPr/>
            <p:nvPr/>
          </p:nvSpPr>
          <p:spPr>
            <a:xfrm>
              <a:off x="238125" y="3762375"/>
              <a:ext cx="3952800" cy="809700"/>
            </a:xfrm>
            <a:prstGeom prst="roundRect">
              <a:avLst>
                <a:gd fmla="val 941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A855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1"/>
            <p:cNvSpPr txBox="1"/>
            <p:nvPr/>
          </p:nvSpPr>
          <p:spPr>
            <a:xfrm>
              <a:off x="381000" y="404202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playlist_add_check</a:t>
              </a:r>
              <a:endParaRPr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1" name="Google Shape;181;p21"/>
            <p:cNvSpPr txBox="1"/>
            <p:nvPr/>
          </p:nvSpPr>
          <p:spPr>
            <a:xfrm>
              <a:off x="904875" y="3810000"/>
              <a:ext cx="31434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Результат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ru" sz="100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Перетворення коду на чисту логічну послідовність операторів.</a:t>
              </a:r>
              <a:endParaRPr b="0" sz="100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3048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Конвеєр 5-рівневого аналізу коду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22"/>
          <p:cNvGrpSpPr/>
          <p:nvPr/>
        </p:nvGrpSpPr>
        <p:grpSpPr>
          <a:xfrm>
            <a:off x="304800" y="1047750"/>
            <a:ext cx="4191000" cy="666900"/>
            <a:chOff x="304800" y="1047750"/>
            <a:chExt cx="4191000" cy="666900"/>
          </a:xfrm>
        </p:grpSpPr>
        <p:sp>
          <p:nvSpPr>
            <p:cNvPr id="189" name="Google Shape;189;p22"/>
            <p:cNvSpPr/>
            <p:nvPr/>
          </p:nvSpPr>
          <p:spPr>
            <a:xfrm>
              <a:off x="304800" y="1047750"/>
              <a:ext cx="4191000" cy="666900"/>
            </a:xfrm>
            <a:prstGeom prst="roundRect">
              <a:avLst>
                <a:gd fmla="val 1142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2"/>
            <p:cNvSpPr txBox="1"/>
            <p:nvPr/>
          </p:nvSpPr>
          <p:spPr>
            <a:xfrm>
              <a:off x="419100" y="1225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short_text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1" name="Google Shape;191;p22"/>
            <p:cNvSpPr txBox="1"/>
            <p:nvPr/>
          </p:nvSpPr>
          <p:spPr>
            <a:xfrm>
              <a:off x="914400" y="1095375"/>
              <a:ext cx="3190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Текстовий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Відстань Левенштейна, алгоритм Рабіна-Карпа, N-грами.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22"/>
          <p:cNvGrpSpPr/>
          <p:nvPr/>
        </p:nvGrpSpPr>
        <p:grpSpPr>
          <a:xfrm>
            <a:off x="304800" y="1809750"/>
            <a:ext cx="4191000" cy="666900"/>
            <a:chOff x="304800" y="1809750"/>
            <a:chExt cx="4191000" cy="666900"/>
          </a:xfrm>
        </p:grpSpPr>
        <p:sp>
          <p:nvSpPr>
            <p:cNvPr id="193" name="Google Shape;193;p22"/>
            <p:cNvSpPr/>
            <p:nvPr/>
          </p:nvSpPr>
          <p:spPr>
            <a:xfrm>
              <a:off x="304800" y="1809750"/>
              <a:ext cx="4191000" cy="666900"/>
            </a:xfrm>
            <a:prstGeom prst="roundRect">
              <a:avLst>
                <a:gd fmla="val 1142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 txBox="1"/>
            <p:nvPr/>
          </p:nvSpPr>
          <p:spPr>
            <a:xfrm>
              <a:off x="419100" y="1987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fingerprint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22"/>
            <p:cNvSpPr txBox="1"/>
            <p:nvPr/>
          </p:nvSpPr>
          <p:spPr>
            <a:xfrm>
              <a:off x="914400" y="1857375"/>
              <a:ext cx="3190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Токенний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Алгоритм Winnowing (цифрові відбитки, стійкість до перестановок), індекс Джаккара.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22"/>
          <p:cNvGrpSpPr/>
          <p:nvPr/>
        </p:nvGrpSpPr>
        <p:grpSpPr>
          <a:xfrm>
            <a:off x="304800" y="2571750"/>
            <a:ext cx="4191000" cy="666900"/>
            <a:chOff x="304800" y="2571750"/>
            <a:chExt cx="4191000" cy="666900"/>
          </a:xfrm>
        </p:grpSpPr>
        <p:sp>
          <p:nvSpPr>
            <p:cNvPr id="197" name="Google Shape;197;p22"/>
            <p:cNvSpPr/>
            <p:nvPr/>
          </p:nvSpPr>
          <p:spPr>
            <a:xfrm>
              <a:off x="304800" y="2571750"/>
              <a:ext cx="4191000" cy="666900"/>
            </a:xfrm>
            <a:prstGeom prst="roundRect">
              <a:avLst>
                <a:gd fmla="val 1142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 txBox="1"/>
            <p:nvPr/>
          </p:nvSpPr>
          <p:spPr>
            <a:xfrm>
              <a:off x="419100" y="2749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schema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914400" y="2619375"/>
              <a:ext cx="3190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Структурний (AST)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Побудoвa тa пoрівняння aбстрaктних синтaксичних дeрeв, пoшук ізoмoрфізму піддeрeв.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304800" y="3333750"/>
            <a:ext cx="4191000" cy="666900"/>
            <a:chOff x="304800" y="3333750"/>
            <a:chExt cx="4191000" cy="666900"/>
          </a:xfrm>
        </p:grpSpPr>
        <p:sp>
          <p:nvSpPr>
            <p:cNvPr id="201" name="Google Shape;201;p22"/>
            <p:cNvSpPr/>
            <p:nvPr/>
          </p:nvSpPr>
          <p:spPr>
            <a:xfrm>
              <a:off x="304800" y="3333750"/>
              <a:ext cx="4191000" cy="666900"/>
            </a:xfrm>
            <a:prstGeom prst="roundRect">
              <a:avLst>
                <a:gd fmla="val 1142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A855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419100" y="3511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914400" y="3381375"/>
              <a:ext cx="3190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 Графовий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Аналіз графів потоку керування (CFG) та залежностей даних.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304800" y="4095750"/>
            <a:ext cx="4191000" cy="666900"/>
            <a:chOff x="304800" y="4095750"/>
            <a:chExt cx="4191000" cy="666900"/>
          </a:xfrm>
        </p:grpSpPr>
        <p:sp>
          <p:nvSpPr>
            <p:cNvPr id="205" name="Google Shape;205;p22"/>
            <p:cNvSpPr/>
            <p:nvPr/>
          </p:nvSpPr>
          <p:spPr>
            <a:xfrm>
              <a:off x="304800" y="4095750"/>
              <a:ext cx="4191000" cy="666900"/>
            </a:xfrm>
            <a:prstGeom prst="roundRect">
              <a:avLst>
                <a:gd fmla="val 1142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419100" y="4273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7" name="Google Shape;207;p22"/>
            <p:cNvSpPr txBox="1"/>
            <p:nvPr/>
          </p:nvSpPr>
          <p:spPr>
            <a:xfrm>
              <a:off x="914400" y="4143375"/>
              <a:ext cx="31908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5. Метричний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Складність Маккейба, метрики Холстеда.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API та JSON-контракти для Frontend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23"/>
          <p:cNvGrpSpPr/>
          <p:nvPr/>
        </p:nvGrpSpPr>
        <p:grpSpPr>
          <a:xfrm>
            <a:off x="304803" y="1143000"/>
            <a:ext cx="3380461" cy="857400"/>
            <a:chOff x="304800" y="1143000"/>
            <a:chExt cx="4191000" cy="857400"/>
          </a:xfrm>
        </p:grpSpPr>
        <p:sp>
          <p:nvSpPr>
            <p:cNvPr id="215" name="Google Shape;215;p23"/>
            <p:cNvSpPr/>
            <p:nvPr/>
          </p:nvSpPr>
          <p:spPr>
            <a:xfrm>
              <a:off x="304800" y="1143000"/>
              <a:ext cx="4191000" cy="857400"/>
            </a:xfrm>
            <a:prstGeom prst="roundRect">
              <a:avLst>
                <a:gd fmla="val 888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419100" y="1416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7" name="Google Shape;217;p23"/>
            <p:cNvSpPr txBox="1"/>
            <p:nvPr/>
          </p:nvSpPr>
          <p:spPr>
            <a:xfrm>
              <a:off x="914400" y="1190625"/>
              <a:ext cx="3190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Висока деталізація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Відмова від статичних звітів на користь строготипізованих JSON.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304799" y="2190750"/>
            <a:ext cx="3380461" cy="857400"/>
            <a:chOff x="304800" y="2190750"/>
            <a:chExt cx="4191000" cy="857400"/>
          </a:xfrm>
        </p:grpSpPr>
        <p:sp>
          <p:nvSpPr>
            <p:cNvPr id="219" name="Google Shape;219;p23"/>
            <p:cNvSpPr/>
            <p:nvPr/>
          </p:nvSpPr>
          <p:spPr>
            <a:xfrm>
              <a:off x="304800" y="2190750"/>
              <a:ext cx="4191000" cy="857400"/>
            </a:xfrm>
            <a:prstGeom prst="roundRect">
              <a:avLst>
                <a:gd fmla="val 888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 txBox="1"/>
            <p:nvPr/>
          </p:nvSpPr>
          <p:spPr>
            <a:xfrm>
              <a:off x="419100" y="24639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gps_fixed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1" name="Google Shape;221;p23"/>
            <p:cNvSpPr txBox="1"/>
            <p:nvPr/>
          </p:nvSpPr>
          <p:spPr>
            <a:xfrm>
              <a:off x="914400" y="2238375"/>
              <a:ext cx="3190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Координати збігів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Передача точних індексів токенів, номерів початкових та кінцевих рядків.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23"/>
          <p:cNvGrpSpPr/>
          <p:nvPr/>
        </p:nvGrpSpPr>
        <p:grpSpPr>
          <a:xfrm>
            <a:off x="304801" y="3238500"/>
            <a:ext cx="3380461" cy="857400"/>
            <a:chOff x="304800" y="3238500"/>
            <a:chExt cx="4191000" cy="857400"/>
          </a:xfrm>
        </p:grpSpPr>
        <p:sp>
          <p:nvSpPr>
            <p:cNvPr id="223" name="Google Shape;223;p23"/>
            <p:cNvSpPr/>
            <p:nvPr/>
          </p:nvSpPr>
          <p:spPr>
            <a:xfrm>
              <a:off x="304800" y="3238500"/>
              <a:ext cx="4191000" cy="857400"/>
            </a:xfrm>
            <a:prstGeom prst="roundRect">
              <a:avLst>
                <a:gd fmla="val 8888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3"/>
            <p:cNvSpPr txBox="1"/>
            <p:nvPr/>
          </p:nvSpPr>
          <p:spPr>
            <a:xfrm>
              <a:off x="419100" y="3511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914400" y="3286125"/>
              <a:ext cx="31908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Статистичний дайджест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Розрахунок максимальної, середньої, мінімальної та медіанної схожості по проєкту.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3048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Тестування та верифікація бекенду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24"/>
          <p:cNvGrpSpPr/>
          <p:nvPr/>
        </p:nvGrpSpPr>
        <p:grpSpPr>
          <a:xfrm>
            <a:off x="304800" y="1047750"/>
            <a:ext cx="4191000" cy="952500"/>
            <a:chOff x="304800" y="1047750"/>
            <a:chExt cx="4191000" cy="952500"/>
          </a:xfrm>
        </p:grpSpPr>
        <p:sp>
          <p:nvSpPr>
            <p:cNvPr id="233" name="Google Shape;233;p24"/>
            <p:cNvSpPr/>
            <p:nvPr/>
          </p:nvSpPr>
          <p:spPr>
            <a:xfrm>
              <a:off x="304800" y="1047750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419100" y="1368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914400" y="1095375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Методологія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Функціональне тестування «чорного ящика» через REST-клієнт Scalar.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24"/>
          <p:cNvGrpSpPr/>
          <p:nvPr/>
        </p:nvGrpSpPr>
        <p:grpSpPr>
          <a:xfrm>
            <a:off x="304800" y="2143125"/>
            <a:ext cx="4191000" cy="1047900"/>
            <a:chOff x="304800" y="2143125"/>
            <a:chExt cx="4191000" cy="1047900"/>
          </a:xfrm>
        </p:grpSpPr>
        <p:sp>
          <p:nvSpPr>
            <p:cNvPr id="237" name="Google Shape;237;p24"/>
            <p:cNvSpPr/>
            <p:nvPr/>
          </p:nvSpPr>
          <p:spPr>
            <a:xfrm>
              <a:off x="304800" y="2143125"/>
              <a:ext cx="4191000" cy="1047900"/>
            </a:xfrm>
            <a:prstGeom prst="roundRect">
              <a:avLst>
                <a:gd fmla="val 7272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419100" y="2511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9" name="Google Shape;239;p24"/>
            <p:cNvSpPr txBox="1"/>
            <p:nvPr/>
          </p:nvSpPr>
          <p:spPr>
            <a:xfrm>
              <a:off x="914400" y="2190750"/>
              <a:ext cx="3429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Критичні сценарії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Перевірка CRUD-операцій з файлами, захист від Path Traversal, валідація JWT-авторизації.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24"/>
          <p:cNvGrpSpPr/>
          <p:nvPr/>
        </p:nvGrpSpPr>
        <p:grpSpPr>
          <a:xfrm>
            <a:off x="304800" y="3333750"/>
            <a:ext cx="4191000" cy="1333500"/>
            <a:chOff x="304800" y="3333750"/>
            <a:chExt cx="4191000" cy="1333500"/>
          </a:xfrm>
        </p:grpSpPr>
        <p:sp>
          <p:nvSpPr>
            <p:cNvPr id="241" name="Google Shape;241;p24"/>
            <p:cNvSpPr/>
            <p:nvPr/>
          </p:nvSpPr>
          <p:spPr>
            <a:xfrm>
              <a:off x="304800" y="3333750"/>
              <a:ext cx="4191000" cy="1333500"/>
            </a:xfrm>
            <a:prstGeom prst="roundRect">
              <a:avLst>
                <a:gd fmla="val 5714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 txBox="1"/>
            <p:nvPr/>
          </p:nvSpPr>
          <p:spPr>
            <a:xfrm>
              <a:off x="419100" y="3845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3" name="Google Shape;243;p24"/>
            <p:cNvSpPr txBox="1"/>
            <p:nvPr/>
          </p:nvSpPr>
          <p:spPr>
            <a:xfrm>
              <a:off x="914400" y="3381375"/>
              <a:ext cx="34290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Верифікація алгоритмів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Успішне розпізнавання логічних клонів коду при змінених назвах змінних та методів (результат: </a:t>
              </a:r>
              <a:r>
                <a:rPr b="1" lang="ru" sz="95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200 OK</a:t>
              </a: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, точна агрегація балів).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/>
        </p:nvSpPr>
        <p:spPr>
          <a:xfrm>
            <a:off x="3048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Висновки та перспективи розвитку</a:t>
            </a:r>
            <a:endParaRPr b="1" i="0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25"/>
          <p:cNvGrpSpPr/>
          <p:nvPr/>
        </p:nvGrpSpPr>
        <p:grpSpPr>
          <a:xfrm>
            <a:off x="304800" y="1047750"/>
            <a:ext cx="4191000" cy="952500"/>
            <a:chOff x="304800" y="1047750"/>
            <a:chExt cx="4191000" cy="952500"/>
          </a:xfrm>
        </p:grpSpPr>
        <p:sp>
          <p:nvSpPr>
            <p:cNvPr id="251" name="Google Shape;251;p25"/>
            <p:cNvSpPr/>
            <p:nvPr/>
          </p:nvSpPr>
          <p:spPr>
            <a:xfrm>
              <a:off x="304800" y="1047750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5"/>
            <p:cNvSpPr txBox="1"/>
            <p:nvPr/>
          </p:nvSpPr>
          <p:spPr>
            <a:xfrm>
              <a:off x="419100" y="1368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emoji_events</a:t>
              </a:r>
              <a:endParaRPr sz="24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25"/>
            <p:cNvSpPr txBox="1"/>
            <p:nvPr/>
          </p:nvSpPr>
          <p:spPr>
            <a:xfrm>
              <a:off x="914400" y="1095375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Результат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Створено високопродуктивне та безпечне (On-Premise) обчислювальне ядро для перевірки коду.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25"/>
          <p:cNvGrpSpPr/>
          <p:nvPr/>
        </p:nvGrpSpPr>
        <p:grpSpPr>
          <a:xfrm>
            <a:off x="304800" y="2143125"/>
            <a:ext cx="4191000" cy="952500"/>
            <a:chOff x="304800" y="2143125"/>
            <a:chExt cx="4191000" cy="952500"/>
          </a:xfrm>
        </p:grpSpPr>
        <p:sp>
          <p:nvSpPr>
            <p:cNvPr id="255" name="Google Shape;255;p25"/>
            <p:cNvSpPr/>
            <p:nvPr/>
          </p:nvSpPr>
          <p:spPr>
            <a:xfrm>
              <a:off x="304800" y="2143125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5"/>
            <p:cNvSpPr txBox="1"/>
            <p:nvPr/>
          </p:nvSpPr>
          <p:spPr>
            <a:xfrm>
              <a:off x="419100" y="24639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7" name="Google Shape;257;p25"/>
            <p:cNvSpPr txBox="1"/>
            <p:nvPr/>
          </p:nvSpPr>
          <p:spPr>
            <a:xfrm>
              <a:off x="914400" y="2190750"/>
              <a:ext cx="3429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Готовність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Повна інтеграція з клієнтським SPA-застосунком через REST API.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5"/>
          <p:cNvGrpSpPr/>
          <p:nvPr/>
        </p:nvGrpSpPr>
        <p:grpSpPr>
          <a:xfrm>
            <a:off x="304800" y="3238500"/>
            <a:ext cx="4191000" cy="1238400"/>
            <a:chOff x="304800" y="3238500"/>
            <a:chExt cx="4191000" cy="1238400"/>
          </a:xfrm>
        </p:grpSpPr>
        <p:sp>
          <p:nvSpPr>
            <p:cNvPr id="259" name="Google Shape;259;p25"/>
            <p:cNvSpPr/>
            <p:nvPr/>
          </p:nvSpPr>
          <p:spPr>
            <a:xfrm>
              <a:off x="304800" y="3238500"/>
              <a:ext cx="4191000" cy="1238400"/>
            </a:xfrm>
            <a:prstGeom prst="roundRect">
              <a:avLst>
                <a:gd fmla="val 6153" name="adj"/>
              </a:avLst>
            </a:prstGeom>
            <a:solidFill>
              <a:srgbClr val="0B0F19">
                <a:alpha val="8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 txBox="1"/>
            <p:nvPr/>
          </p:nvSpPr>
          <p:spPr>
            <a:xfrm>
              <a:off x="419100" y="37021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1" name="Google Shape;261;p25"/>
            <p:cNvSpPr txBox="1"/>
            <p:nvPr/>
          </p:nvSpPr>
          <p:spPr>
            <a:xfrm>
              <a:off x="914400" y="3286125"/>
              <a:ext cx="3429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Монетизація та розвиток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ru" sz="950">
                  <a:solidFill>
                    <a:srgbClr val="D4D4D1"/>
                  </a:solidFill>
                  <a:latin typeface="Arial"/>
                  <a:ea typeface="Arial"/>
                  <a:cs typeface="Arial"/>
                  <a:sym typeface="Arial"/>
                </a:rPr>
                <a:t>Корпоративне ліцензування (Enterprise On-Premise), хмарна підписка (SaaS), модель Open-Core для базових CLI-парсерів.</a:t>
              </a:r>
              <a:endParaRPr b="0" sz="950">
                <a:solidFill>
                  <a:srgbClr val="D4D4D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type="title"/>
          </p:nvPr>
        </p:nvSpPr>
        <p:spPr>
          <a:xfrm>
            <a:off x="311700" y="1857375"/>
            <a:ext cx="85206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Дякую за увагу!</a:t>
            </a:r>
            <a:endParaRPr b="0" sz="1400">
              <a:solidFill>
                <a:srgbClr val="06B6D4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8" name="Google Shape;26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